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3716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06B6D4"/>
                </a:solidFill>
              </a:defRPr>
            </a:pPr>
            <a:r>
              <a:t>FINAL YEAR MAJOR PROJECT PRESENTATION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AI-Powered Market Trend and Consumer Sentiment Forecaster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</a:defRPr>
            </a:pPr>
            <a:r>
              <a:t>A Deep Learning &amp; Unsupervised NLP Intelligence Framework with Aspect-Based Sentiment Analysis, BERTopic Semantic Modeling, and SentiTSMixer Sales Forecasting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Domain: Artificial Intelligence | Deep Time-Series |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06B6D4"/>
                </a:solidFill>
              </a:rPr>
              <a:t>Background: </a:t>
            </a:r>
            <a:r>
              <a:rPr sz="1400">
                <a:solidFill>
                  <a:srgbClr val="E2E8F0"/>
                </a:solidFill>
              </a:rPr>
              <a:t>The explosive growth of e-commerce platforms, social media, and digital news generates immense volumes of unstructured customer feedback, ratings, and market signals.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6B6D4"/>
                </a:solidFill>
              </a:rPr>
              <a:t>Core Problem: </a:t>
            </a:r>
            <a:r>
              <a:rPr sz="1400">
                <a:solidFill>
                  <a:srgbClr val="E2E8F0"/>
                </a:solidFill>
              </a:rPr>
              <a:t>Traditional sales forecasting relies purely on historical numeric transactions, ignoring real-time sentiment shifts, review helpfulness votes, and hidden discussion themes.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6B6D4"/>
                </a:solidFill>
              </a:rPr>
              <a:t>Proposed Solution: </a:t>
            </a:r>
            <a:r>
              <a:rPr sz="1400">
                <a:solidFill>
                  <a:srgbClr val="E2E8F0"/>
                </a:solidFill>
              </a:rPr>
              <a:t>This project presents an end-to-end AI framework amalgamating Customer Ratings (R), Normalized Review Sentiment (S via BERT &amp; VADER), Review Helpfulness (H), and Cumulative Mixture (SC) into the Align Stage of SentiTSMixer.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6B6D4"/>
                </a:solidFill>
              </a:rPr>
              <a:t>NLP &amp; RAG Integration: </a:t>
            </a:r>
            <a:r>
              <a:rPr sz="1400">
                <a:solidFill>
                  <a:srgbClr val="E2E8F0"/>
                </a:solidFill>
              </a:rPr>
              <a:t>Employs BERTopic and Latent Dirichlet Allocation (LDA) for unsupervised trend and topic discovery, combined with FAISS dense vector search and LLMs for Retrieval-Augmented Generation (RAG).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6B6D4"/>
                </a:solidFill>
              </a:rPr>
              <a:t>Results &amp; Impact: </a:t>
            </a:r>
            <a:r>
              <a:rPr sz="1400">
                <a:solidFill>
                  <a:srgbClr val="E2E8F0"/>
                </a:solidFill>
              </a:rPr>
              <a:t>Delivers a 65% to 99% reduction in forecasting error (MAPE, MSE) over ARIMA and LSTM baselines, dampening supply chain bullwhip effects and supporting real-time data-driven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01.  The Surge of Digital Consumer Voice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E-commerce and social platforms (Amazon, Twitter/X, Reddit) have made customer reviews the primary driver of product demand. Consumer sentiment shifts weeks before appearing in backward-looking sales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02.  Multi-Dimensional Customer Feedback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Customer feedback encompasses discrete numeric star ratings (1–5), detailed unstructured textual reviews, and community upvotes (helpfulness likes/dislikes) that validate review truthfulness.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03.  The Sales Forecasting Imperative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Accurate business demand forecasting is crucial to balance market supply and production. Over-forecasting ties up capital and causes inventory wastage; under-forecasting leads to stockouts, lost revenue, and brand defection.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04.  Next-Gen AI Forecasting Paradigm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Bridging the gap between Natural Language Processing (BERT/VADER, BERTopic, RAG) and Deep Multivariate Time-Series (TSMixer architecture) to construct an intelligent real-time forecasting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BACKGROUND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Literature Survey (Part 1: Foundational Time-Series &amp; Sentiment)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Paper 1: Classical Statistical &amp; Neural Time-Series Models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Authors: Taylor &amp; Letham (2018), Fattah et al. (2018), Yenidogan et al. (2018)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Investigated ARIMA, SARIMA, and LSTM architectures for demand and stock prediction.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Findings: ARIMA requires strict stationarity and fails on nonlinear trends; SARIMA captures seasonal periods but breaks under dynamic seasonality.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LSTMs mitigate vanishing gradients with memory gates, yet struggle to fuse auxiliary unstructured text features efficiently without high computational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6984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Paper 2: Customer Sentiment &amp; Lexical Rating Integration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Authors: Ghosh et al. (2021, 2024), Hutto &amp; Gilbert (2014 - VADER)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Developed VADER rule-based sentiment reasoning and explored sales forecasting of overrated products.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Demonstrated that customer ratings are discrete (1-5) and lack granularity; textual reviews provide continuous nuance.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Gap Identified: Models omitted review helpfulness community votes, allowing fake reviews and outlier noise to inflate forecast MSE.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BACKGROUND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Literature Survey (Part 2: Modern Transformers &amp; TSMixer)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b="1" sz="1500">
                <a:solidFill>
                  <a:srgbClr val="6366F1"/>
                </a:solidFill>
              </a:defRPr>
            </a:pPr>
            <a:r>
              <a:t>Paper 3: TSMixer: An All-MLP Architecture for Time Series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Authors: Si-An Chen, Chun-Liang Li, Nate Yoder, Sercan O. Arik, Tomas Pfister (Google Research, 2023)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Introduced TSMixer, replacing complex self-attention with Time-Mixing MLPs and Feature-Mixing MLPs.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Achieved superior accuracy with 2D Layer Normalization and residual connections at a fraction of Transformer compute.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Demonstrated the 'Align Stage' concept for projecting auxiliary static and time-varying auxiliary features into shared time-series representations.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6984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Paper 4: SentiTSMixer: Specific Sales Forecasting with Customer Sentiment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Authors: Ghosh, Das, Roy, Bhattacharjee, Cortesi, Sen (IEEE Access, Vol. 13, 2025)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Direct grounding paper for this project. Integrated BERT/VADER sentiment, ratings, and helpfulness upvotes into TSMixer.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Formulated Equation 8 (VADER 0-1 alignment), Eq. 9 (1-5 sentiment scaling), Eq. 10 (helpfulness normalization), and Eq. 11 (mixture SC).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</a:defRPr>
            </a:pPr>
            <a:r>
              <a:t>•  Demonstrated Random Forest MDI feature importance and proved 65% to 99% error reduction across Amazon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Existing System &amp; Critical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❌  Univariate Transaction Dependency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Traditional systems (ARIMA, Holt-Winters) rely solely on historical order quantities. They are blind to emerging consumer sentiment and sudden shifts in market demand.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❌  Neglect of Customer Review Text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Standard ERP systems ignore millions of unstructured textual opinions, failing to capture qualitative customer perceptions, defect complaints, and praise.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❌  Discrete Rating Bias &amp; Fake Reviews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Treats all 1–5 star ratings uniformly. False, sponsored, or low-quality reviews distort demand predictions because existing models lack helpfulness-based vote weighting.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❌  High Forecast Error &amp; Bullwhip Effect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High forecast error (MAPE &gt; 150%, extreme MSE) creates severe supply chain bullwhip distortions, causing over-stocking write-offs or catastrophic stockouts.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TECHNICAL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Proposed System: End-to-End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✅  Dual-Engine Sentiment &amp; Normalization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Fuses BERT Transformer Softmax probabilities with VADER rule-based valence. Formulates Eq. 8 (0-1 mapping), Eq. 9 (1-5 sentiment scaling), and Eq. 10 (helpfulness normalization).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✅  SentiTSMixer Deep Time-Series Engine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Replaces heavy recurrent/attention layers with Time-Mixing MLPs, Feature-Mixing MLPs, and 2D LayerNorm with residual connections. Features are injected at the Align Stage weighted by Random Forest MDI.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✅  Aspect-Based Sentiment &amp; Topic Discovery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Deconstructs feedback into 6 key product aspects (Battery, Build, Price, UI, Speed, Support). Uncovers latent trends using BERTopic (UMAP + c-TF-IDF) and LDA topic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✅  RAG AI Market Copilot &amp; Decision Sandbox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FAISS in-memory dense vector database enables instant similarity search over customer voices. Integrated with Gemini LLMs for strategic Q&amp;A and What-If scenario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RESEARCH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In modern multi-channel retail, consumer purchase decisions are heavily dictated by online ratings, detailed review narratives, and community upvotes.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However, existing time-series sales forecasting models operate in isolation from unstructured textual data, creating a dangerous blind spot for demand planners.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Furthermore, unweighted star ratings are vulnerable to fake reviews, extreme reviewer polarization, and discrete integer constraints that obscure subtle satisfaction shifts.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500">
                <a:solidFill>
                  <a:srgbClr val="06B6D4"/>
                </a:solidFill>
              </a:defRPr>
            </a:pPr>
            <a:r>
              <a:t>Therefore, there is an urgent research and engineering challenge to design a unified AI framework that: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1. Quantifies and normalizes multi-channel textual sentiment (BERT &amp; VADER) on a continuous 1–5 scale.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2. Dynamically balances community helpfulness votes to suppress unverified or false reviews.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3. Amalgamates qualitative sentiment features into a high-speed, low-parameter deep forecasting model (SentiTSMixer) capable of slashing forecast error by 65% to 99%.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1: Multi-Channel Data Pipeline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Design and automate high-throughput ingestion from Twitter/X, Amazon Verified Reviews, and Reddit, resampled into weekly time-series matrices.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2: Dual-Engine Sentiment &amp; Scale Normalization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Implement BERT Transformer &amp; VADER algorithms and formulate mathematical scaling (Eq. 8, 9, 10) to map sentiment and helpfulness to standard [1, 5] intervals.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3: Unsupervised Topic &amp; Aspect Mining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Extract latent consumer themes using Latent Dirichlet Allocation (LDA) and BERTopic (c-TF-IDF), alongside Aspect-Based Sentiment Analysis (ABSA) for 6 core product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4: SentiTSMixer Architecture Implementation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Construct the SentiTSMixer deep forecasting network with Time-Mixing &amp; Feature-Mixing MLPs, residual connections, and feature importance weighting at the Align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5: FAISS RAG &amp; Conversational Copilot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Build an in-memory dense vector index with FAISS for semantic similarity search over reviews, integrated with Gemini LLMs for market intelligence Q&amp;A.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06B6D4"/>
                </a:solidFill>
              </a:defRPr>
            </a:pPr>
            <a:r>
              <a:t>Goal 6: Interactive Multi-Dashboard Suite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Deliver 8 enterprise-grade Streamlit dashboards for real-time monitoring, what-if simulations, supply chain bullwhip dampening, and automated report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EXPERIMENTAL RESULTS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System Output (Part 1: Sentiment Pulse &amp; Aspect Analysis)</a:t>
            </a:r>
          </a:p>
        </p:txBody>
      </p:sp>
      <p:pic>
        <p:nvPicPr>
          <p:cNvPr id="5" name="Picture 4" descr="output_1_sentiment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357037"/>
          </a:xfrm>
          <a:prstGeom prst="rect">
            <a:avLst/>
          </a:prstGeom>
        </p:spPr>
      </p:pic>
      <p:pic>
        <p:nvPicPr>
          <p:cNvPr id="6" name="Picture 5" descr="output_2_absa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23691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Visual Findings: (Left) Real-time Net Sentiment Velocity Index across consumer sectors and multi-channel ingestion share. (Right) Granular Aspect-Based Sentiment Analysis (ABSA) polar radar chart isolating key hardware dimensions alongside 6-emotion distribution profiling.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EXPERIMENTAL RESULTS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System Output (Part 2: Deep Demand Forecasting &amp; Benchmarks)</a:t>
            </a:r>
          </a:p>
        </p:txBody>
      </p:sp>
      <p:pic>
        <p:nvPicPr>
          <p:cNvPr id="5" name="Picture 4" descr="output_3_deman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336800"/>
          </a:xfrm>
          <a:prstGeom prst="rect">
            <a:avLst/>
          </a:prstGeom>
        </p:spPr>
      </p:pic>
      <p:pic>
        <p:nvPicPr>
          <p:cNvPr id="6" name="Picture 5" descr="output_4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2327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Visual Findings: (Left) SentiTSMixer multi-step demand forecast with 95% confidence intervals tracking actual sales tightly across seasonal surges. (Right) Benchmark evaluation proving SentiTSMixer cuts MAPE to 12.99% (vs ARIMA's 248%), with the Cumulative Mixture contributing 48% MDI importance.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🎯 Project Outcomes &amp; Key Takeaways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Unprecedented Accuracy: SentiTSMixer achieves a 65% to 99% error reduction over ARIMA and LSTM models across varied dataset scales.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Helpfulness Synergy: Factoring in community upvotes effectively neutralizes fake or misleading reviews, stabilizing demand variance.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Feature Mixture Dominance: Random Forest MDI proves that the cumulative sentiment mixture (SC) provides up to 48%–91% of predictive influence.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Enterprise Readiness: 8 interactive dashboards empower supply chain planners to anticipate demand shifts 3–6 weeks in advance.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1400"/>
              </a:spcAft>
              <a:defRPr b="1" sz="1600">
                <a:solidFill>
                  <a:srgbClr val="6366F1"/>
                </a:solidFill>
              </a:defRPr>
            </a:pPr>
            <a:r>
              <a:t>🚀 Future Research &amp; Extensions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Adversarial Fake Review Detection: Train zero-shot LLM classifiers to flag bot review farms before sentiment computation.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Multilingual Sentiment Extraction: Expand Transformer tokenizers to process localized reviews across multilingual consumer markets.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Real-Time WebSocket Streaming: Deploy Kafka / PubSub streaming pipelines for sub-second sentiment ingestion.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Procurement Triggers: Direct integration with enterprise ERP systems (SAP/Oracle) to autonomously adjust purchase orders based on What-If simulations.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/>
          <a:lstStyle/>
          <a:p>
            <a:pPr algn="ctr"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[1] P. Ghosh, S. Das, S. Roy, A. Bhattacharjee, A. Cortesi, and S. Sen, 'SentiTSMixer: A Specific Model for Sales Forecasting Using Sentiment Analysis of Customer,' IEEE Access, vol. 13, pp. 85882–85897, 2025.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[2] S.-A. Chen, C.-L. Li, N. Yoder, S. O. Arik, and T. Pfister, 'TSMixer: An all-MLP architecture for time series forecasting,' arXiv:2303.06053, Google Research, 2023.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[3] C. Hutto and É. Gilbert, 'VADER: A parsimonious rule-based model for sentiment analysis of social media text,' in Proc. 8th Int. AAAI Conf. Web Social Media (ICWSM), pp. 216–225, 2014.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[4] J. Devlin, M.-W. Chang, K. Lee, and K. Toutanova, 'BERT: Pre-training of deep bidirectional transformers for language understanding,' in Proc. NAACL-HLT, pp. 4171–4186, 2019.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[5] M. Grootendorst, 'BERTopic: Neural topic modeling with a class-based TF-IDF procedure,' arXiv:2203.05794, 2022.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[6] J. Johnson, M. Douze, and H. Jégou, 'Billion-scale similarity search with GPUs [FAISS],' IEEE Transactions on Big Data, vol. 7, no. 3, pp. 535–547, 2021.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[7] S. J. Taylor and B. Letham, 'Forecasting at scale [Prophet],' The American Statistician, vol. 72, no. 1, pp. 37–45, 2018.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[8] P. Ghosh, O. Samanta, T. Goto, and S. Sen, 'Sales forecasting of overrated products: Fine tuning of customer's rating by integrating sentiment analysis,' IEEE Access, vol. 12, pp. 69578–69592,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